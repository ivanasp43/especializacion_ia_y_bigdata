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rgV6bTewMIWcU8MmJS+WLxA+P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-bold.fntdata"/><Relationship Id="rId16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9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26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40.png"/><Relationship Id="rId13" Type="http://schemas.openxmlformats.org/officeDocument/2006/relationships/image" Target="../media/image28.png"/><Relationship Id="rId1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24.png"/><Relationship Id="rId14" Type="http://schemas.openxmlformats.org/officeDocument/2006/relationships/image" Target="../media/image15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Relationship Id="rId8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5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49.png"/><Relationship Id="rId13" Type="http://schemas.openxmlformats.org/officeDocument/2006/relationships/image" Target="../media/image34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1.png"/><Relationship Id="rId9" Type="http://schemas.openxmlformats.org/officeDocument/2006/relationships/image" Target="../media/image33.png"/><Relationship Id="rId1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27.png"/><Relationship Id="rId7" Type="http://schemas.openxmlformats.org/officeDocument/2006/relationships/image" Target="../media/image32.png"/><Relationship Id="rId8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36.png"/><Relationship Id="rId5" Type="http://schemas.openxmlformats.org/officeDocument/2006/relationships/image" Target="../media/image45.png"/><Relationship Id="rId6" Type="http://schemas.openxmlformats.org/officeDocument/2006/relationships/image" Target="../media/image39.png"/><Relationship Id="rId7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6872"/>
            <a:ext cx="11049000" cy="404410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152525" y="1987897"/>
            <a:ext cx="10381297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Sistema de Monitorización Sísmica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152525" y="3900338"/>
            <a:ext cx="9886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Análisis en Tiempo Real a Escala Global con Big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4612778"/>
            <a:ext cx="9239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6950" y="4612778"/>
            <a:ext cx="137160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1524000" y="2319337"/>
            <a:ext cx="91440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0" i="1" lang="en-US" sz="31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"En la era del Big Data, el verdadero valor no reside en las herramientas, sino en explotar fuentes relevantes para generar </a:t>
            </a:r>
            <a:r>
              <a:rPr b="1" i="1" lang="en-US" sz="31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conocimiento útil en tiempo real</a:t>
            </a:r>
            <a:r>
              <a:rPr b="0" i="1" lang="en-US" sz="315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."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71500" y="466248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EL RETO TECNOLÓGICO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952500" y="1938337"/>
            <a:ext cx="29527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1" lang="en-US" sz="90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6915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236440"/>
            <a:ext cx="5219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952500" y="227454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Análisis en Tiempo Real: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Procesamiento inmediato de flujos de datos sísmicos mundiales.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952500" y="312226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Arquitectura Orientada a Eventos: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Diseño robusto desacoplado para alta escalabilidad.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952500" y="396999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Métricas Clave (KPIs):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Definición de indicadores para la detección de eventos críticos.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52500" y="4817715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Visualización Interactiva: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Cuadro de mando claro para la toma de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9" name="Google Shape;10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2692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7465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02237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870102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4587"/>
            <a:ext cx="5238750" cy="2958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43112"/>
            <a:ext cx="5238750" cy="3701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420492"/>
            <a:ext cx="44577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962025" y="2805112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Origen: C.S. Euromediterráneo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962025" y="331559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Utilizamos el flujo oficial del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Seismic Portal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Es una fuente pública, gratuita y científica que no requiere claves API complejas.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6772275" y="2433637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Método: WebSocket Secure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772275" y="294411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Protocolo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WSS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recibir notificaciones push instantáneas (JSON). Evitamos el polling repetitivo, reduciendo latencia y consumo de 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7" name="Google Shape;12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82416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245268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7115175" y="400139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7153275" y="4001392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&gt; Magnitud &amp; Profundidad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7115175" y="4449067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7153275" y="4449067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&gt; Coordenadas (Lat/Lon)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7115175" y="4896742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7153275" y="4896742"/>
            <a:ext cx="407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&gt; Región Afectada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Fuente de Datos: EMSC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32744"/>
            <a:ext cx="2547937" cy="2921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432744"/>
            <a:ext cx="2547937" cy="2921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432744"/>
            <a:ext cx="2547937" cy="2921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432744"/>
            <a:ext cx="2547937" cy="2921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4468" y="27280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1390411" y="3680519"/>
            <a:ext cx="91011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Ingesta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866775" y="4074765"/>
            <a:ext cx="1957387" cy="984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Script Python con websocket-client. Conexión persistente y normalización de JSON.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9" name="Google Shape;14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98156" y="27280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4084081" y="3680519"/>
            <a:ext cx="119014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Event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3700462" y="4074765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Apache Kafka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Desacopla la fuente de los consumidores. Garantiza tolerancia a fallos.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2" name="Google Shape;152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31843" y="27280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6887765" y="3680519"/>
            <a:ext cx="1250156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Streaming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6534150" y="4074765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Spark / Flink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Procesamiento de ventanas temporales (Windowing 30min).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5" name="Google Shape;15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65531" y="27280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 txBox="1"/>
          <p:nvPr/>
        </p:nvSpPr>
        <p:spPr>
          <a:xfrm>
            <a:off x="9836467" y="3680519"/>
            <a:ext cx="1020127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4.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9367837" y="4074765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InfluxDB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Base de datos de series temporales para histórico de magnitudes.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8" name="Google Shape;15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45443" y="288041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50556" y="288041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27093" y="2880419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46506" y="2880419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Arquitectura de Ingesta &amp; Proceso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/>
        </p:nvSpPr>
        <p:spPr>
          <a:xfrm>
            <a:off x="571500" y="258127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Filtrado de Alertas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571500" y="309175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Implementación de lógica de negocio crítica en el stream de datos: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6381750" y="258127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Ventanas Temporales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6381750" y="3091755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Técnica de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Windowing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calcular tendencias: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3" name="Google Shape;17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03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571500" y="3853755"/>
            <a:ext cx="5238750" cy="1200150"/>
          </a:xfrm>
          <a:prstGeom prst="roundRect">
            <a:avLst>
              <a:gd fmla="val 3174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714375" y="399663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IF magnitude &gt; 6.0: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Disparar notificación de ALERTA ROJA inmediata al dashboard.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71500" y="3853755"/>
            <a:ext cx="38100" cy="12001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003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 txBox="1"/>
          <p:nvPr/>
        </p:nvSpPr>
        <p:spPr>
          <a:xfrm>
            <a:off x="6724650" y="354895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6762750" y="354895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Cálculo de magnitud media cada 30 minutos.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6724650" y="3996630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6762750" y="399663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Identificación de "enjambres sísmicos" (picos de actividad en corto tiempo).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6724650" y="474910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6762750" y="474910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Almacenamiento eficiente en BBDD de series temporales.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Estrategia de Análisis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953000" cy="691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3995250" y="136325"/>
            <a:ext cx="59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Dashboard Grafana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4100125" y="765475"/>
            <a:ext cx="381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Visualización centralizada para el operador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206400" y="1071525"/>
            <a:ext cx="1649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Mapa de Calo</a:t>
            </a:r>
            <a:r>
              <a:rPr b="1" lang="en-US" sz="1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</a:t>
            </a:r>
            <a:endParaRPr b="1"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Geolocalización en tiempo real. Tamaño del punto = Magnitud.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10496825" y="4299350"/>
            <a:ext cx="1583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Indicador Crítico</a:t>
            </a:r>
            <a:endParaRPr b="1" sz="1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Luz roja parpadeante para sismos &gt; 6.0.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10339425" y="1635850"/>
            <a:ext cx="1583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Live Feed</a:t>
            </a:r>
            <a:endParaRPr b="0" i="0" sz="150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Lista de eventos "Hace 2 min: 4.2 en Chile"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9475" y="1071525"/>
            <a:ext cx="8221199" cy="56501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7"/>
          <p:cNvCxnSpPr>
            <a:stCxn id="194" idx="2"/>
          </p:cNvCxnSpPr>
          <p:nvPr/>
        </p:nvCxnSpPr>
        <p:spPr>
          <a:xfrm>
            <a:off x="1031250" y="1856625"/>
            <a:ext cx="1065900" cy="1205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7"/>
          <p:cNvCxnSpPr>
            <a:stCxn id="196" idx="2"/>
          </p:cNvCxnSpPr>
          <p:nvPr/>
        </p:nvCxnSpPr>
        <p:spPr>
          <a:xfrm flipH="1">
            <a:off x="9993225" y="2267050"/>
            <a:ext cx="1137900" cy="82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7"/>
          <p:cNvCxnSpPr>
            <a:stCxn id="195" idx="2"/>
          </p:cNvCxnSpPr>
          <p:nvPr/>
        </p:nvCxnSpPr>
        <p:spPr>
          <a:xfrm flipH="1">
            <a:off x="9961925" y="4868750"/>
            <a:ext cx="1326600" cy="856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7"/>
          <p:cNvSpPr/>
          <p:nvPr/>
        </p:nvSpPr>
        <p:spPr>
          <a:xfrm>
            <a:off x="3769800" y="139025"/>
            <a:ext cx="57300" cy="5487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9397"/>
            <a:ext cx="2547937" cy="2668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559397"/>
            <a:ext cx="2547937" cy="2668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559397"/>
            <a:ext cx="2547937" cy="2668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559397"/>
            <a:ext cx="2547937" cy="2668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4468" y="285467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 txBox="1"/>
          <p:nvPr/>
        </p:nvSpPr>
        <p:spPr>
          <a:xfrm>
            <a:off x="1215390" y="3807172"/>
            <a:ext cx="1260157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Acceso Libre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866775" y="4201417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Datos públicos y gratuitos. Sin barreras de entrada ni costes de licencia API.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4" name="Google Shape;21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98156" y="285467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 txBox="1"/>
          <p:nvPr/>
        </p:nvSpPr>
        <p:spPr>
          <a:xfrm>
            <a:off x="3959066" y="3807172"/>
            <a:ext cx="144018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Formato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3700462" y="4201417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Estructura ligera y fácil de parsear con librerías estándar de Python.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7" name="Google Shape;217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31843" y="285467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 txBox="1"/>
          <p:nvPr/>
        </p:nvSpPr>
        <p:spPr>
          <a:xfrm>
            <a:off x="6932771" y="3807172"/>
            <a:ext cx="116014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Carga Ideal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6534150" y="4201417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Volumen constante pero manejable para recursos de aula. Escenario realista.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0" name="Google Shape;22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65531" y="285467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9871471" y="3807172"/>
            <a:ext cx="95011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Escalable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9367837" y="4201417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Arquitectura modular. Se puede empezar con consola y escalar a cluster.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3" name="Google Shape;22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45443" y="300707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07706" y="3007072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84243" y="30070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89356" y="300707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Viabilidad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5619750" y="2415629"/>
            <a:ext cx="9525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295275" y="2739479"/>
            <a:ext cx="11601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Conclusión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1809750" y="3752850"/>
            <a:ext cx="85725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"Transformamos flujos de datos brutos en </a:t>
            </a: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conocimiento vital</a:t>
            </a: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alineando tecnología Big Data con seguridad global."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571500" y="222989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71500" y="321275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71500" y="399752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71500" y="32032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71500" y="32032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71500" y="39879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71500" y="39879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71500" y="47727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571500" y="47727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84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 txBox="1"/>
          <p:nvPr/>
        </p:nvSpPr>
        <p:spPr>
          <a:xfrm>
            <a:off x="1666875" y="237276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https://static.vecteezy.com/system/resources/thumbnails/016/308/702/small/the-scene-of-creating-a-network-connection-from-yellow-particles-futuristic-blue-background-the-connection-of-particles-visualization-of-big-data-abstract-to-science-and-technology-3d-rendering-photo.jpg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1666875" y="281657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4" name="Google Shape;25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621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0"/>
          <p:cNvSpPr txBox="1"/>
          <p:nvPr/>
        </p:nvSpPr>
        <p:spPr>
          <a:xfrm>
            <a:off x="1666875" y="335562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https://timescale.ghost.io/blog/content/images/2020/04/800px-grafana-override.gif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 txBox="1"/>
          <p:nvPr/>
        </p:nvSpPr>
        <p:spPr>
          <a:xfrm>
            <a:off x="1666875" y="36013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www.tigerdata.com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7" name="Google Shape;25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469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0"/>
          <p:cNvSpPr txBox="1"/>
          <p:nvPr/>
        </p:nvSpPr>
        <p:spPr>
          <a:xfrm>
            <a:off x="1666875" y="41403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https://preview.redd.it/3d-map-with-the-depth-and-magnitude-of-earthquakes-since-v0-e8dcbx18376g1.gif?format=png8&amp;s=6b994900182d04e588ddd2e233ee860b275f28c8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 txBox="1"/>
          <p:nvPr/>
        </p:nvSpPr>
        <p:spPr>
          <a:xfrm>
            <a:off x="1666875" y="438611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www.reddit.com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60" name="Google Shape;26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317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 txBox="1"/>
          <p:nvPr/>
        </p:nvSpPr>
        <p:spPr>
          <a:xfrm>
            <a:off x="1666875" y="49251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https://png.pngtree.com/thumb_back/fh260/background/20230613/pngtree-blue-digital-wave-wave-against-black-background-image_2957780.jpg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1666875" y="51708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762000" y="571500"/>
            <a:ext cx="11401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71500" y="571500"/>
            <a:ext cx="57150" cy="54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